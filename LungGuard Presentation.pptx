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264" r:id="rId3"/>
    <p:sldId id="277" r:id="rId4"/>
    <p:sldId id="276" r:id="rId5"/>
    <p:sldId id="274" r:id="rId6"/>
    <p:sldId id="272" r:id="rId7"/>
    <p:sldId id="261" r:id="rId8"/>
    <p:sldId id="27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Biuckians" userId="16d1cd1737eca651" providerId="LiveId" clId="{C50E9BB9-5BA2-4FC3-86F1-EB39E12E4301}"/>
    <pc:docChg chg="undo custSel addSld delSld modSld sldOrd">
      <pc:chgData name="Alex Biuckians" userId="16d1cd1737eca651" providerId="LiveId" clId="{C50E9BB9-5BA2-4FC3-86F1-EB39E12E4301}" dt="2026-06-10T22:21:26.507" v="763" actId="20577"/>
      <pc:docMkLst>
        <pc:docMk/>
      </pc:docMkLst>
      <pc:sldChg chg="modSp mod">
        <pc:chgData name="Alex Biuckians" userId="16d1cd1737eca651" providerId="LiveId" clId="{C50E9BB9-5BA2-4FC3-86F1-EB39E12E4301}" dt="2026-06-10T22:21:26.507" v="763" actId="20577"/>
        <pc:sldMkLst>
          <pc:docMk/>
          <pc:sldMk cId="2689390866" sldId="257"/>
        </pc:sldMkLst>
        <pc:spChg chg="mod">
          <ac:chgData name="Alex Biuckians" userId="16d1cd1737eca651" providerId="LiveId" clId="{C50E9BB9-5BA2-4FC3-86F1-EB39E12E4301}" dt="2026-06-10T22:21:26.507" v="763" actId="20577"/>
          <ac:spMkLst>
            <pc:docMk/>
            <pc:sldMk cId="2689390866" sldId="257"/>
            <ac:spMk id="2" creationId="{30EC5CA7-DCC0-CB80-94D2-90DCA9A01BFC}"/>
          </ac:spMkLst>
        </pc:spChg>
        <pc:spChg chg="mod">
          <ac:chgData name="Alex Biuckians" userId="16d1cd1737eca651" providerId="LiveId" clId="{C50E9BB9-5BA2-4FC3-86F1-EB39E12E4301}" dt="2026-06-02T19:09:05.468" v="2" actId="27636"/>
          <ac:spMkLst>
            <pc:docMk/>
            <pc:sldMk cId="2689390866" sldId="257"/>
            <ac:spMk id="3" creationId="{FC1C2CB2-344D-38A8-C213-4DAB59DC0C2F}"/>
          </ac:spMkLst>
        </pc:spChg>
      </pc:sldChg>
      <pc:sldChg chg="modSp mod ord">
        <pc:chgData name="Alex Biuckians" userId="16d1cd1737eca651" providerId="LiveId" clId="{C50E9BB9-5BA2-4FC3-86F1-EB39E12E4301}" dt="2026-06-02T20:41:49.544" v="16"/>
        <pc:sldMkLst>
          <pc:docMk/>
          <pc:sldMk cId="1036381943" sldId="261"/>
        </pc:sldMkLst>
        <pc:spChg chg="mod">
          <ac:chgData name="Alex Biuckians" userId="16d1cd1737eca651" providerId="LiveId" clId="{C50E9BB9-5BA2-4FC3-86F1-EB39E12E4301}" dt="2026-06-02T19:09:05.276" v="0"/>
          <ac:spMkLst>
            <pc:docMk/>
            <pc:sldMk cId="1036381943" sldId="261"/>
            <ac:spMk id="2" creationId="{12F1AB00-3317-D1FA-1D8C-98DB4DE03D04}"/>
          </ac:spMkLst>
        </pc:spChg>
        <pc:spChg chg="mod">
          <ac:chgData name="Alex Biuckians" userId="16d1cd1737eca651" providerId="LiveId" clId="{C50E9BB9-5BA2-4FC3-86F1-EB39E12E4301}" dt="2026-06-02T19:09:06.851" v="7" actId="27636"/>
          <ac:spMkLst>
            <pc:docMk/>
            <pc:sldMk cId="1036381943" sldId="261"/>
            <ac:spMk id="3" creationId="{D9A32915-D916-C537-A594-32AA9139F2D5}"/>
          </ac:spMkLst>
        </pc:spChg>
      </pc:sldChg>
      <pc:sldChg chg="addSp delSp modSp mod ord">
        <pc:chgData name="Alex Biuckians" userId="16d1cd1737eca651" providerId="LiveId" clId="{C50E9BB9-5BA2-4FC3-86F1-EB39E12E4301}" dt="2026-06-06T19:17:56.543" v="731" actId="1076"/>
        <pc:sldMkLst>
          <pc:docMk/>
          <pc:sldMk cId="1591620526" sldId="272"/>
        </pc:sldMkLst>
        <pc:spChg chg="mod">
          <ac:chgData name="Alex Biuckians" userId="16d1cd1737eca651" providerId="LiveId" clId="{C50E9BB9-5BA2-4FC3-86F1-EB39E12E4301}" dt="2026-06-05T14:26:12.404" v="236" actId="20577"/>
          <ac:spMkLst>
            <pc:docMk/>
            <pc:sldMk cId="1591620526" sldId="272"/>
            <ac:spMk id="2" creationId="{585CA4D4-D901-8992-C02A-A4776B2B7862}"/>
          </ac:spMkLst>
        </pc:spChg>
        <pc:spChg chg="add mod">
          <ac:chgData name="Alex Biuckians" userId="16d1cd1737eca651" providerId="LiveId" clId="{C50E9BB9-5BA2-4FC3-86F1-EB39E12E4301}" dt="2026-06-06T19:11:07.617" v="728" actId="122"/>
          <ac:spMkLst>
            <pc:docMk/>
            <pc:sldMk cId="1591620526" sldId="272"/>
            <ac:spMk id="3" creationId="{60D1B23F-ED5D-0A91-FCE4-6AE61F32DB88}"/>
          </ac:spMkLst>
        </pc:spChg>
        <pc:picChg chg="add mod">
          <ac:chgData name="Alex Biuckians" userId="16d1cd1737eca651" providerId="LiveId" clId="{C50E9BB9-5BA2-4FC3-86F1-EB39E12E4301}" dt="2026-06-06T19:17:56.543" v="731" actId="1076"/>
          <ac:picMkLst>
            <pc:docMk/>
            <pc:sldMk cId="1591620526" sldId="272"/>
            <ac:picMk id="6" creationId="{09AA15D4-384D-051C-3779-66B41DBA312F}"/>
          </ac:picMkLst>
        </pc:picChg>
      </pc:sldChg>
      <pc:sldChg chg="addSp modSp mod ord">
        <pc:chgData name="Alex Biuckians" userId="16d1cd1737eca651" providerId="LiveId" clId="{C50E9BB9-5BA2-4FC3-86F1-EB39E12E4301}" dt="2026-06-10T22:04:03.671" v="759" actId="1076"/>
        <pc:sldMkLst>
          <pc:docMk/>
          <pc:sldMk cId="4271725364" sldId="273"/>
        </pc:sldMkLst>
        <pc:spChg chg="mod">
          <ac:chgData name="Alex Biuckians" userId="16d1cd1737eca651" providerId="LiveId" clId="{C50E9BB9-5BA2-4FC3-86F1-EB39E12E4301}" dt="2026-06-02T19:09:05.276" v="0"/>
          <ac:spMkLst>
            <pc:docMk/>
            <pc:sldMk cId="4271725364" sldId="273"/>
            <ac:spMk id="2" creationId="{4252B144-B08B-1859-C459-0A6D34DF34CC}"/>
          </ac:spMkLst>
        </pc:spChg>
        <pc:picChg chg="add mod">
          <ac:chgData name="Alex Biuckians" userId="16d1cd1737eca651" providerId="LiveId" clId="{C50E9BB9-5BA2-4FC3-86F1-EB39E12E4301}" dt="2026-06-10T22:04:03.671" v="759" actId="1076"/>
          <ac:picMkLst>
            <pc:docMk/>
            <pc:sldMk cId="4271725364" sldId="273"/>
            <ac:picMk id="5" creationId="{7D7A7A45-9623-3764-3B90-913277749713}"/>
          </ac:picMkLst>
        </pc:picChg>
      </pc:sldChg>
      <pc:sldChg chg="modSp mod ord">
        <pc:chgData name="Alex Biuckians" userId="16d1cd1737eca651" providerId="LiveId" clId="{C50E9BB9-5BA2-4FC3-86F1-EB39E12E4301}" dt="2026-06-09T19:20:47.736" v="733" actId="20577"/>
        <pc:sldMkLst>
          <pc:docMk/>
          <pc:sldMk cId="2685591246" sldId="274"/>
        </pc:sldMkLst>
        <pc:spChg chg="mod">
          <ac:chgData name="Alex Biuckians" userId="16d1cd1737eca651" providerId="LiveId" clId="{C50E9BB9-5BA2-4FC3-86F1-EB39E12E4301}" dt="2026-06-02T19:09:05.276" v="0"/>
          <ac:spMkLst>
            <pc:docMk/>
            <pc:sldMk cId="2685591246" sldId="274"/>
            <ac:spMk id="2" creationId="{D271E100-E91E-46CA-3393-1202B39272A1}"/>
          </ac:spMkLst>
        </pc:spChg>
        <pc:spChg chg="mod">
          <ac:chgData name="Alex Biuckians" userId="16d1cd1737eca651" providerId="LiveId" clId="{C50E9BB9-5BA2-4FC3-86F1-EB39E12E4301}" dt="2026-06-09T19:20:47.736" v="733" actId="20577"/>
          <ac:spMkLst>
            <pc:docMk/>
            <pc:sldMk cId="2685591246" sldId="274"/>
            <ac:spMk id="3" creationId="{C29542CA-7FBE-15F8-B459-B113838AB3D9}"/>
          </ac:spMkLst>
        </pc:spChg>
      </pc:sldChg>
      <pc:sldChg chg="addSp delSp modSp new mod ord modNotesTx">
        <pc:chgData name="Alex Biuckians" userId="16d1cd1737eca651" providerId="LiveId" clId="{C50E9BB9-5BA2-4FC3-86F1-EB39E12E4301}" dt="2026-06-10T01:13:11.530" v="755" actId="20577"/>
        <pc:sldMkLst>
          <pc:docMk/>
          <pc:sldMk cId="3151980003" sldId="276"/>
        </pc:sldMkLst>
        <pc:spChg chg="mod">
          <ac:chgData name="Alex Biuckians" userId="16d1cd1737eca651" providerId="LiveId" clId="{C50E9BB9-5BA2-4FC3-86F1-EB39E12E4301}" dt="2026-06-02T21:42:01.702" v="120" actId="20577"/>
          <ac:spMkLst>
            <pc:docMk/>
            <pc:sldMk cId="3151980003" sldId="276"/>
            <ac:spMk id="2" creationId="{30481EA8-95DD-48F1-3D14-D698465915D4}"/>
          </ac:spMkLst>
        </pc:spChg>
        <pc:spChg chg="mod">
          <ac:chgData name="Alex Biuckians" userId="16d1cd1737eca651" providerId="LiveId" clId="{C50E9BB9-5BA2-4FC3-86F1-EB39E12E4301}" dt="2026-06-10T01:13:11.530" v="755" actId="20577"/>
          <ac:spMkLst>
            <pc:docMk/>
            <pc:sldMk cId="3151980003" sldId="276"/>
            <ac:spMk id="3" creationId="{1AF3B695-2F78-068B-A6CC-325ACDDEBF26}"/>
          </ac:spMkLst>
        </pc:spChg>
      </pc:sldChg>
      <pc:sldChg chg="modSp new mod">
        <pc:chgData name="Alex Biuckians" userId="16d1cd1737eca651" providerId="LiveId" clId="{C50E9BB9-5BA2-4FC3-86F1-EB39E12E4301}" dt="2026-06-10T21:59:29.533" v="756" actId="20577"/>
        <pc:sldMkLst>
          <pc:docMk/>
          <pc:sldMk cId="4070547672" sldId="277"/>
        </pc:sldMkLst>
        <pc:spChg chg="mod">
          <ac:chgData name="Alex Biuckians" userId="16d1cd1737eca651" providerId="LiveId" clId="{C50E9BB9-5BA2-4FC3-86F1-EB39E12E4301}" dt="2026-06-05T15:07:46.727" v="535" actId="20577"/>
          <ac:spMkLst>
            <pc:docMk/>
            <pc:sldMk cId="4070547672" sldId="277"/>
            <ac:spMk id="2" creationId="{ADD0951A-F393-0D24-45D2-39610AC9604B}"/>
          </ac:spMkLst>
        </pc:spChg>
        <pc:spChg chg="mod">
          <ac:chgData name="Alex Biuckians" userId="16d1cd1737eca651" providerId="LiveId" clId="{C50E9BB9-5BA2-4FC3-86F1-EB39E12E4301}" dt="2026-06-10T21:59:29.533" v="756" actId="20577"/>
          <ac:spMkLst>
            <pc:docMk/>
            <pc:sldMk cId="4070547672" sldId="277"/>
            <ac:spMk id="3" creationId="{000FA023-FBD1-FDA0-387C-62AFEF338726}"/>
          </ac:spMkLst>
        </pc:spChg>
      </pc:sldChg>
      <pc:sldChg chg="add del">
        <pc:chgData name="Alex Biuckians" userId="16d1cd1737eca651" providerId="LiveId" clId="{C50E9BB9-5BA2-4FC3-86F1-EB39E12E4301}" dt="2026-06-10T22:21:18.043" v="761" actId="2890"/>
        <pc:sldMkLst>
          <pc:docMk/>
          <pc:sldMk cId="3249414663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8D9E41-1AF2-4B15-8AD6-64A15DC7BCC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F7E1A-ED76-4253-9876-E0D3CEA834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8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42BF6-2957-46AF-B4EE-440EBDC8B4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493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out graduation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42BF6-2957-46AF-B4EE-440EBDC8B4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06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Critical: model is highly confident</a:t>
            </a:r>
          </a:p>
          <a:p>
            <a:r>
              <a:rPr lang="en-US" dirty="0"/>
              <a:t>Model signals to act but not enough for immediate referral.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F7E1A-ED76-4253-9876-E0D3CEA834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08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42BF6-2957-46AF-B4EE-440EBDC8B4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21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72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44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23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24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64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804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2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44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18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4556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82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12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3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0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06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51FAF44-B2EE-4FC3-9A6A-30487C8EA3A1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C3F7AA9-C7EE-4C66-8DEA-18766EB2E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671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dhrubangtalukdar/lung-cancer-prediction-datase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github.com/alexbiuckians/LungGuar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www.linkedin.com/in/alex-biuckia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C5CA7-DCC0-CB80-94D2-90DCA9A01B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LungGuard</a:t>
            </a:r>
            <a:r>
              <a:rPr lang="en-US" dirty="0"/>
              <a:t>: An interactive tool to determine lung </a:t>
            </a:r>
            <a:r>
              <a:rPr lang="en-US"/>
              <a:t>cancer risk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C2CB2-344D-38A8-C213-4DAB59DC0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By: Alex Biuckians</a:t>
            </a:r>
          </a:p>
          <a:p>
            <a:r>
              <a:rPr lang="en-US" dirty="0"/>
              <a:t>Mentor: Maryam Shahbaz Ali</a:t>
            </a:r>
          </a:p>
          <a:p>
            <a:r>
              <a:rPr lang="en-US"/>
              <a:t>June 10,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39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40FB1B-3EC6-F9C6-A232-D6E6FDDAF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>
            <a:fillRect/>
          </a:stretch>
        </p:blipFill>
        <p:spPr bwMode="auto">
          <a:xfrm>
            <a:off x="-8622" y="10"/>
            <a:ext cx="6096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55AA87-3A1F-C361-0532-78853E581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320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18523-F837-D926-7DEF-341EF908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>
              <a:buClr>
                <a:srgbClr val="DB8A74"/>
              </a:buClr>
            </a:pPr>
            <a:r>
              <a:rPr lang="en-US" sz="1800" dirty="0"/>
              <a:t>Current M.S. Data Science Student at GWU. Expected Graduation: May 2027</a:t>
            </a:r>
          </a:p>
          <a:p>
            <a:pPr>
              <a:buClr>
                <a:srgbClr val="DB8A74"/>
              </a:buClr>
            </a:pPr>
            <a:r>
              <a:rPr lang="en-US" sz="1800" dirty="0"/>
              <a:t>B.A. in Sport Management, minor in Data Analytics at High Point University. Graduation: December 2024</a:t>
            </a:r>
          </a:p>
          <a:p>
            <a:pPr>
              <a:buClr>
                <a:srgbClr val="DB8A74"/>
              </a:buClr>
            </a:pPr>
            <a:r>
              <a:rPr lang="en-US" sz="1800" dirty="0"/>
              <a:t>Focused on Machine Learning, Data Visualization, and Predictive Modeling</a:t>
            </a:r>
          </a:p>
          <a:p>
            <a:pPr>
              <a:buClr>
                <a:srgbClr val="DB8A74"/>
              </a:buClr>
            </a:pPr>
            <a:r>
              <a:rPr lang="en-US" sz="1800" dirty="0"/>
              <a:t>Built </a:t>
            </a:r>
            <a:r>
              <a:rPr lang="en-US" sz="1800" dirty="0" err="1"/>
              <a:t>LungGuard</a:t>
            </a:r>
            <a:r>
              <a:rPr lang="en-US" sz="1800" dirty="0"/>
              <a:t> as a personal project to go beyond coursework and build something impactful</a:t>
            </a:r>
          </a:p>
          <a:p>
            <a:pPr>
              <a:buClr>
                <a:srgbClr val="DB8A74"/>
              </a:buClr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1288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0951A-F393-0D24-45D2-39610AC9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Mentor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FA023-FBD1-FDA0-387C-62AFEF338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Maryam Shahbaz Ali: AI Engineer | Healthcare AI Researcher | Founder</a:t>
            </a:r>
          </a:p>
          <a:p>
            <a:r>
              <a:rPr lang="en-US" dirty="0">
                <a:effectLst/>
              </a:rPr>
              <a:t>Award-winning AI practitioner, recent MSBA graduate from The George Washington University, and Research Trainee at Children's National Hospital</a:t>
            </a:r>
          </a:p>
          <a:p>
            <a:r>
              <a:rPr lang="en-US" dirty="0">
                <a:effectLst/>
              </a:rPr>
              <a:t>Specializes in LLMs, RAG systems, Explainable AI (EBM, SHAP), responsible machine learning, predictive analytics, and decision-support systems</a:t>
            </a:r>
          </a:p>
        </p:txBody>
      </p:sp>
    </p:spTree>
    <p:extLst>
      <p:ext uri="{BB962C8B-B14F-4D97-AF65-F5344CB8AC3E}">
        <p14:creationId xmlns:p14="http://schemas.microsoft.com/office/powerpoint/2010/main" val="4070547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81EA8-95DD-48F1-3D14-D69846591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3B695-2F78-068B-A6CC-325ACDDEB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1732449"/>
            <a:ext cx="11449878" cy="46981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Problem</a:t>
            </a:r>
          </a:p>
          <a:p>
            <a:pPr lvl="1"/>
            <a:r>
              <a:rPr lang="en-US" dirty="0"/>
              <a:t>Lung Cancer kills ~125,000 Americans annually – but it’s survivable when caught early</a:t>
            </a:r>
          </a:p>
          <a:p>
            <a:pPr lvl="1"/>
            <a:r>
              <a:rPr lang="en-US" dirty="0"/>
              <a:t>Standard ML models give clinicians a single number: “73% probability”, is useless without context </a:t>
            </a:r>
          </a:p>
          <a:p>
            <a:r>
              <a:rPr lang="en-US" dirty="0"/>
              <a:t>Solution</a:t>
            </a:r>
          </a:p>
          <a:p>
            <a:pPr lvl="1"/>
            <a:r>
              <a:rPr lang="en-US" dirty="0" err="1"/>
              <a:t>LungGuard</a:t>
            </a:r>
            <a:r>
              <a:rPr lang="en-US" dirty="0"/>
              <a:t>: estimates an individual’s lung cancer risk based on 27 variables</a:t>
            </a:r>
          </a:p>
          <a:p>
            <a:pPr lvl="2"/>
            <a:r>
              <a:rPr lang="en-US" dirty="0"/>
              <a:t>Individual risk score</a:t>
            </a:r>
          </a:p>
          <a:p>
            <a:pPr lvl="2"/>
            <a:r>
              <a:rPr lang="en-US" dirty="0"/>
              <a:t>SHAP explanation</a:t>
            </a:r>
          </a:p>
          <a:p>
            <a:pPr lvl="2"/>
            <a:r>
              <a:rPr lang="en-US" dirty="0"/>
              <a:t>Intervention engine</a:t>
            </a:r>
          </a:p>
          <a:p>
            <a:pPr lvl="1"/>
            <a:r>
              <a:rPr lang="en-US" dirty="0"/>
              <a:t>The threshold is set at .48 (not the default .5)</a:t>
            </a:r>
          </a:p>
          <a:p>
            <a:r>
              <a:rPr lang="en-US" dirty="0"/>
              <a:t>Expected</a:t>
            </a:r>
          </a:p>
          <a:p>
            <a:pPr lvl="1"/>
            <a:r>
              <a:rPr lang="en-US" dirty="0"/>
              <a:t>Critical: Above MCC threshold of .62. Immediate LDCT referral</a:t>
            </a:r>
          </a:p>
          <a:p>
            <a:pPr lvl="1"/>
            <a:r>
              <a:rPr lang="en-US" dirty="0"/>
              <a:t>Moderate: between </a:t>
            </a:r>
            <a:r>
              <a:rPr lang="en-US" dirty="0" err="1"/>
              <a:t>decion</a:t>
            </a:r>
            <a:r>
              <a:rPr lang="en-US" dirty="0"/>
              <a:t> </a:t>
            </a:r>
            <a:r>
              <a:rPr lang="en-US" dirty="0" err="1"/>
              <a:t>threshould</a:t>
            </a:r>
            <a:r>
              <a:rPr lang="en-US"/>
              <a:t> MCC </a:t>
            </a:r>
            <a:r>
              <a:rPr lang="en-US" dirty="0"/>
              <a:t>thresholds of .48 and .62, respectively. 3-6 follow-up</a:t>
            </a:r>
          </a:p>
          <a:p>
            <a:pPr lvl="1"/>
            <a:r>
              <a:rPr lang="en-US" dirty="0"/>
              <a:t>Low: Below F2 threshold of .48. Routine annual screening.</a:t>
            </a:r>
          </a:p>
        </p:txBody>
      </p:sp>
    </p:spTree>
    <p:extLst>
      <p:ext uri="{BB962C8B-B14F-4D97-AF65-F5344CB8AC3E}">
        <p14:creationId xmlns:p14="http://schemas.microsoft.com/office/powerpoint/2010/main" val="3151980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1E100-E91E-46CA-3393-1202B392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542CA-7FBE-15F8-B459-B113838AB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Kaggle Dataset: “Lung Cancer Prediction Dataset” </a:t>
            </a:r>
            <a:r>
              <a:rPr lang="en-US" dirty="0">
                <a:hlinkClick r:id="rId2"/>
              </a:rPr>
              <a:t>https://www.kaggle.com/datasets/dhrubangtalukdar/lung-cancer-prediction-dataset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1,000 patients across four risk dimensions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Demographics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Smoking behavior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Environmental exposure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Clinical</a:t>
            </a:r>
          </a:p>
          <a:p>
            <a:pPr>
              <a:lnSpc>
                <a:spcPct val="90000"/>
              </a:lnSpc>
            </a:pPr>
            <a:r>
              <a:rPr lang="en-US" dirty="0"/>
              <a:t>Target Variable: elevated lung cancer risk</a:t>
            </a:r>
          </a:p>
          <a:p>
            <a:r>
              <a:rPr lang="en-US" dirty="0"/>
              <a:t>Variable Breakdown</a:t>
            </a:r>
          </a:p>
          <a:p>
            <a:pPr lvl="1"/>
            <a:r>
              <a:rPr lang="en-US" dirty="0"/>
              <a:t>46.9% lifestyle</a:t>
            </a:r>
          </a:p>
          <a:p>
            <a:pPr lvl="1"/>
            <a:r>
              <a:rPr lang="en-US" dirty="0"/>
              <a:t>35.7% clinical markers</a:t>
            </a:r>
          </a:p>
          <a:p>
            <a:pPr lvl="1"/>
            <a:r>
              <a:rPr lang="en-US" dirty="0"/>
              <a:t>17.4% demographics</a:t>
            </a:r>
          </a:p>
          <a:p>
            <a:pPr>
              <a:lnSpc>
                <a:spcPct val="90000"/>
              </a:lnSpc>
            </a:pPr>
            <a:r>
              <a:rPr lang="en-US" dirty="0"/>
              <a:t>Synthetic Data with clinically-informed structure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Variable relationships ground in medical literature</a:t>
            </a:r>
          </a:p>
          <a:p>
            <a:pPr lvl="1"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591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A4D4-D901-8992-C02A-A4776B2B7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D1B23F-ED5D-0A91-FCE4-6AE61F32DB88}"/>
              </a:ext>
            </a:extLst>
          </p:cNvPr>
          <p:cNvSpPr txBox="1"/>
          <p:nvPr/>
        </p:nvSpPr>
        <p:spPr>
          <a:xfrm>
            <a:off x="993913" y="1789043"/>
            <a:ext cx="9372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https://lungguard.streamlit.app/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AA15D4-384D-051C-3779-66B41DBA3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375" y="2552034"/>
            <a:ext cx="6839249" cy="369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20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AB00-3317-D1FA-1D8C-98DB4DE03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32915-D916-C537-A594-32AA9139F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Real Data</a:t>
            </a:r>
          </a:p>
          <a:p>
            <a:pPr lvl="1"/>
            <a:r>
              <a:rPr lang="en-US" dirty="0"/>
              <a:t>Built and validated on synthetic dataset to demonstrate methodology. </a:t>
            </a:r>
          </a:p>
          <a:p>
            <a:pPr lvl="1"/>
            <a:r>
              <a:rPr lang="en-US" dirty="0"/>
              <a:t>Next Step: Acquiring real patient data to validate whether model’s performance holds on actual clinical population</a:t>
            </a:r>
          </a:p>
          <a:p>
            <a:pPr lvl="1"/>
            <a:r>
              <a:rPr lang="en-US" dirty="0"/>
              <a:t>Will contain collection bias, comorbidity patterns, and access disparities differ significantly from synthetic data</a:t>
            </a:r>
          </a:p>
          <a:p>
            <a:r>
              <a:rPr lang="en-US" dirty="0"/>
              <a:t>IRB</a:t>
            </a:r>
          </a:p>
          <a:p>
            <a:pPr lvl="1"/>
            <a:r>
              <a:rPr lang="en-US" dirty="0"/>
              <a:t>Project has not been approved by Institutional Review Board.</a:t>
            </a:r>
          </a:p>
          <a:p>
            <a:pPr lvl="1"/>
            <a:r>
              <a:rPr lang="en-US" dirty="0"/>
              <a:t>Next Step: reviewed by the Institutional Review Board to ensure patient privacy, informed consent, and ethical use of health data.</a:t>
            </a:r>
          </a:p>
          <a:p>
            <a:pPr lvl="1"/>
            <a:r>
              <a:rPr lang="en-US" dirty="0"/>
              <a:t>Prerequisite before it could be tested in hospital or clinical setting</a:t>
            </a:r>
          </a:p>
          <a:p>
            <a:r>
              <a:rPr lang="en-US" dirty="0"/>
              <a:t>Clinician Validation</a:t>
            </a:r>
          </a:p>
          <a:p>
            <a:pPr lvl="1"/>
            <a:r>
              <a:rPr lang="en-US" dirty="0"/>
              <a:t>No usability testing or clinical review has been conducted</a:t>
            </a:r>
          </a:p>
          <a:p>
            <a:pPr lvl="1"/>
            <a:r>
              <a:rPr lang="en-US" dirty="0"/>
              <a:t>Next Step: co-designing the tool with actual clinicians to validate the risk stratification thresholds, SHAP explanations, and What-If interventions align with real clinical workflows and decision-making.</a:t>
            </a:r>
          </a:p>
          <a:p>
            <a:pPr lvl="1"/>
            <a:r>
              <a:rPr lang="en-US" dirty="0"/>
              <a:t>Ensure the tool supports rather than replaces clinical judgement</a:t>
            </a:r>
          </a:p>
        </p:txBody>
      </p:sp>
    </p:spTree>
    <p:extLst>
      <p:ext uri="{BB962C8B-B14F-4D97-AF65-F5344CB8AC3E}">
        <p14:creationId xmlns:p14="http://schemas.microsoft.com/office/powerpoint/2010/main" val="1036381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2B144-B08B-1859-C459-0A6D34DF3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89FD0-943D-0501-CD86-55CDAC060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027" y="1580050"/>
            <a:ext cx="4395624" cy="4058751"/>
          </a:xfrm>
        </p:spPr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https://github.com/alexbiuckians/LungGuard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3CB5BE-8E08-58D9-4574-BB928A6F2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998" y="2200589"/>
            <a:ext cx="4983945" cy="44547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EB185F-738B-303A-06EE-EE934EFA4460}"/>
              </a:ext>
            </a:extLst>
          </p:cNvPr>
          <p:cNvSpPr txBox="1"/>
          <p:nvPr/>
        </p:nvSpPr>
        <p:spPr>
          <a:xfrm>
            <a:off x="6907634" y="1454663"/>
            <a:ext cx="5294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LinkedIn</a:t>
            </a:r>
          </a:p>
          <a:p>
            <a:r>
              <a:rPr lang="en-US" dirty="0">
                <a:hlinkClick r:id="rId4"/>
              </a:rPr>
              <a:t>https://www.linkedin.com/in/alex-biuckians/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A7A45-9623-3764-3B90-9132777497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94" y="2710761"/>
            <a:ext cx="3898490" cy="389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253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3651</TotalTime>
  <Words>525</Words>
  <Application>Microsoft Office PowerPoint</Application>
  <PresentationFormat>Widescreen</PresentationFormat>
  <Paragraphs>67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Calisto MT</vt:lpstr>
      <vt:lpstr>Wingdings 2</vt:lpstr>
      <vt:lpstr>Slate</vt:lpstr>
      <vt:lpstr>LungGuard: An interactive tool to determine lung cancer risk</vt:lpstr>
      <vt:lpstr>Introduction</vt:lpstr>
      <vt:lpstr>Introduction: Mentor</vt:lpstr>
      <vt:lpstr>Executive Solution</vt:lpstr>
      <vt:lpstr>Dataset</vt:lpstr>
      <vt:lpstr>Live Demo</vt:lpstr>
      <vt:lpstr>What’s Next</vt:lpstr>
      <vt:lpstr>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Biuckians</dc:creator>
  <cp:lastModifiedBy>Alex Biuckians</cp:lastModifiedBy>
  <cp:revision>1</cp:revision>
  <dcterms:created xsi:type="dcterms:W3CDTF">2026-06-02T19:08:53Z</dcterms:created>
  <dcterms:modified xsi:type="dcterms:W3CDTF">2026-06-10T22:21:35Z</dcterms:modified>
</cp:coreProperties>
</file>